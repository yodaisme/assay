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88998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SEQUOIA CAPITAL PITCH DECK • TALENT INTELLIGENCE ENGINE</a:t>
            </a:r>
          </a:p>
          <a:p>
            <a:pPr>
              <a:spcBef>
                <a:spcPts val="1500"/>
              </a:spcBef>
            </a:pPr>
            <a:r>
              <a:rPr sz="5400" b="1">
                <a:solidFill>
                  <a:srgbClr val="FFFFFF"/>
                </a:solidFill>
              </a:rPr>
              <a:t>ASSAY</a:t>
            </a:r>
          </a:p>
          <a:p>
            <a:pPr>
              <a:spcBef>
                <a:spcPts val="1500"/>
              </a:spcBef>
            </a:pPr>
            <a:r>
              <a:rPr sz="2000" b="1">
                <a:solidFill>
                  <a:srgbClr val="34D399"/>
                </a:solidFill>
              </a:rPr>
              <a:t>Out-of-Core Hybrid SQL &amp; Vector Candidate Ranking Engine</a:t>
            </a:r>
          </a:p>
          <a:p>
            <a:pPr>
              <a:spcBef>
                <a:spcPts val="1500"/>
              </a:spcBef>
            </a:pPr>
            <a:r>
              <a:rPr sz="1300">
                <a:solidFill>
                  <a:srgbClr val="CBD5E1"/>
                </a:solidFill>
              </a:rPr>
              <a:t>Evaluating 100,000+ candidates in &lt;3 minutes with zero-hallucination explainability.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1.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Problem: Candidate Search is Broken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01.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</a:rPr>
              <a:t>Keyword Stuffing Gaming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Traditional SQL ATS search relies on keyword matching. Candidates easily exploit this by stuffing resumes with buzzwords, boosting unqualified profiles to the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02.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</a:rPr>
              <a:t>Vector Blindness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Pure AI vector search matches general semantics but fails catastrophically on hard constraints—ignoring location, notice periods, and consulting-only work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03.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FFFFFF"/>
                </a:solidFill>
              </a:rPr>
              <a:t>Recruiter Fatigue &amp; Hallucinations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Manual screening of 100,000+ profiles causes extreme fatigue, while naive LLM wrapper summaries introduce high API costs, latency, and hallucinations.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2.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Assay: Merit-First Hybrid Candidate Search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4D399"/>
                </a:solidFill>
              </a:rPr>
              <a:t>STAGE 1: DuckDB Out-of-Core SQL Filter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High-Throughput Relational Filtering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Streams 100K JSONL records directly into memory-safe DuckDB.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Filters target Indian tech hubs &amp; relocation preferences.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Excludes non-engineering roles &amp; consulting-only companies.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Prunes 100K candidates to ~25K eligible survivors in 45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</a:rPr>
              <a:t>STAGE 2: Vector Alignment &amp; Anti-Stuffing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Multi-Signal Vector Scoring Engine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Computes 384d cosine similarity across 12 Job Description facets.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Applies Verified Skill Multiplier [0.5 - 1.2] based on test scores.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Continuous notice period decay curve rewards availability without hard drops.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• Generates 80-160 char 100% factual recruiter reasoning 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3. 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Why Now? The Convergence of Data &amp; AI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TREND 01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Explosion of Unstructured Profile Data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Over 100,000+ candidates submit multi-page unstructured JSON profiles for single engineering roles, overwhelming relational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TREND 02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Commoditization of Compact Embeddings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Modern 384-dim sentence transformers allow instant CPU-only cosine similarity matrix calculations without needing expensive GPU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TREND 03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Demand for Zero-Hallucination Explainability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Enterprises are moving away from opaque AI black boxes to deterministic, audit-proof recruiter reasoning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4.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Market Opportunity: High-Volume Talent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4D399"/>
                </a:solidFill>
              </a:rPr>
              <a:t>$32.5 Billion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TAM — Global AI Recruitment &amp; ATS Market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Total global spending on applicant tracking systems, recruitment software, and hiring automation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4D399"/>
                </a:solidFill>
              </a:rPr>
              <a:t>$8.2 Billion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SAM — Enterprise Vector Search &amp; Talent Screening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Target market for high-throughput candidate evaluation, resume parsing, and semantic talent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8BDF8"/>
                </a:solidFill>
              </a:rPr>
              <a:t>$1.4 Billion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SOM — Automated Merit-First Ranking Platforms</a:t>
            </a:r>
          </a:p>
          <a:p>
            <a:pPr>
              <a:spcBef>
                <a:spcPts val="1200"/>
              </a:spcBef>
            </a:pPr>
            <a:r>
              <a:rPr sz="1150">
                <a:solidFill>
                  <a:srgbClr val="CBD5E1"/>
                </a:solidFill>
              </a:rPr>
              <a:t>Initial addressable opportunity across tech hubs, developer marketplaces, and high-volume recruiting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5.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Product Architecture: High-Throughput 2-Stage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INPUT DATA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100K JSONL Profiles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Raw candidate records containing resume text, skills, work history, and redrob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STAGE 1: DuckDB SQL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Out-of-Core Filtering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Executes location, relocation, non-eng role, &amp; consulting-only exclusions in 45s (~25K survivors).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STAGE 2: Scoring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Vector Matrix Engine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Vectorized 12-facet cosine alignment + verified skill multiplier + continuous notice decay (~90s).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11480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OUTPUT CSV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Top-100 Ranked List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Monotonic ranked list with 80-160 char deterministic recruiter reasoning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6.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Unrivaled Speed, Efficiency &amp; Quality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4D399"/>
                </a:solidFill>
              </a:rPr>
              <a:t>&lt; 2.5 Mins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FFFF"/>
                </a:solidFill>
              </a:rPr>
              <a:t>Total Pipeline Execution Time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BD5E1"/>
                </a:solidFill>
              </a:rPr>
              <a:t>Evaluates and ranks 100,000 candidate profiles from scratch on a standard laptop CPU.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4D399"/>
                </a:solidFill>
              </a:rPr>
              <a:t>&lt; 4.0 GB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FFFF"/>
                </a:solidFill>
              </a:rPr>
              <a:t>Peak Memory RAM Footprint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BD5E1"/>
                </a:solidFill>
              </a:rPr>
              <a:t>Memory-safe out-of-core streaming via DuckDB prevents memory overflow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4D399"/>
                </a:solidFill>
              </a:rPr>
              <a:t>0.00%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FFFF"/>
                </a:solidFill>
              </a:rPr>
              <a:t>Honeypot / Spammer Rate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BD5E1"/>
                </a:solidFill>
              </a:rPr>
              <a:t>Zero low-quality or honeypot candidates present in the final Top 100 output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4D399"/>
                </a:solidFill>
              </a:rPr>
              <a:t>100%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FFFFFF"/>
                </a:solidFill>
              </a:rPr>
              <a:t>Recruiter Explainability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BD5E1"/>
                </a:solidFill>
              </a:rPr>
              <a:t>Every candidate output contains a fact-based 80-160 char summary string.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7. 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Competitive Moat: Multi-Layer Anti-Gaming Defenses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MOAT 01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4-Layer Anti-Keyword-Stuffing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Cross-checks self-reported resume skills against verified platform assessment scores [0.5–1.2 multiplier], density caps, and metric verification to block gaming.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MOAT 02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Continuous Notice Decay Curve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Piecewise linear suitability curve from 1.0 (&lt;=30 days) to a 0.80 floor (&gt;=120 days), penalizing long notice periods smoothly without harsh cutoffs.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MOAT 03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Product Co. Tenure Ratio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Tenure-weighted product vs. consulting ratio (+15% / -20%) rewards candidates with real engineering depth in production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8.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Business Model &amp; Go-To-Market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SaaS Ranking API &amp; Metered Billing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Usage-Based Enterprise Pricing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Tiered API pricing per 10,000 candidate profiles evaluated ($0.02 / evaluation).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Enterprise subscription tiers for high-volume hiring platforms and tech recruiters.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Dedicated out-of-core pipeline nodes for privacy-conscious enterprise deployments.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ATS &amp; Marketplace Integrations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</a:rPr>
              <a:t>Channel Partner Strategy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Turnkey plugins for Greenhouse, Lever, Workday, and SmartRecruiters.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Direct API integration for talent marketplaces (e.g., Redrob, Turing, Hired).</a:t>
            </a:r>
          </a:p>
          <a:p>
            <a:pPr>
              <a:spcBef>
                <a:spcPts val="1400"/>
              </a:spcBef>
            </a:pPr>
            <a:r>
              <a:rPr sz="1200">
                <a:solidFill>
                  <a:srgbClr val="CBD5E1"/>
                </a:solidFill>
              </a:rPr>
              <a:t>• White-label talent evaluation engine for recruitment agencies.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9. VISION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Future Vision: Real-Time Talent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4D399"/>
                </a:solidFill>
              </a:rPr>
              <a:t>PHASE 1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Core Engine (Complete)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DuckDB SQL pre-filter + vectorized 12-facet scoring pipeline. Tested on 100K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PHASE 2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pgvector Real-Time Index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Sub-millisecond PostgreSQL vector indexing for live interactive candidate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720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PHASE 3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Recruiter UI Dashboard</a:t>
            </a:r>
          </a:p>
          <a:p>
            <a:pPr>
              <a:spcBef>
                <a:spcPts val="1500"/>
              </a:spcBef>
            </a:pPr>
            <a:r>
              <a:rPr sz="1200">
                <a:solidFill>
                  <a:srgbClr val="CBD5E1"/>
                </a:solidFill>
              </a:rPr>
              <a:t>Next.js web application with interactive weight sliders, radar charts, and ATS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