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 ExtraBold" panose="020B0604020202020204" charset="0"/>
      <p:bold r:id="rId14"/>
    </p:embeddedFont>
    <p:embeddedFont>
      <p:font typeface="Manrope SemiBold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Arial"/>
              </a:rPr>
              <a:t>Team Name : Solo Submission (ApexRank)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Arial"/>
              </a:rPr>
              <a:t>Problem Statement : AI-Powered Candidate Ranking for Search/ML Engineer Role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Arial"/>
              </a:rPr>
              <a:t>Team Leader Name : Candidate ID: [Your Name]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374904" y="1371600"/>
            <a:ext cx="2651760" cy="30175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A73E8"/>
                </a:solidFill>
                <a:latin typeface="Arial"/>
              </a:rPr>
              <a:t>⚙️ 1. Pipeline Architecture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Stage 1 (DuckDB): </a:t>
            </a:r>
            <a:r>
              <a:rPr sz="900">
                <a:solidFill>
                  <a:srgbClr val="202729"/>
                </a:solidFill>
                <a:latin typeface="Arial"/>
              </a:rPr>
              <a:t>Aggressive SQL streaming filters candidate pool from 100K to ~25K survivors based on location/role.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Stage 2 (NumPy/Pandas): </a:t>
            </a:r>
            <a:r>
              <a:rPr sz="900">
                <a:solidFill>
                  <a:srgbClr val="202729"/>
                </a:solidFill>
                <a:latin typeface="Arial"/>
              </a:rPr>
              <a:t>High-speed vectorized alignment and multi-signal scoring logic.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Execution Speed: </a:t>
            </a:r>
            <a:r>
              <a:rPr sz="900">
                <a:solidFill>
                  <a:srgbClr val="202729"/>
                </a:solidFill>
                <a:latin typeface="Arial"/>
              </a:rPr>
              <a:t>Process entire dataset in &lt; 3 minutes on single CPU (Zero GPU requirement).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Optimized Compute: </a:t>
            </a:r>
            <a:r>
              <a:rPr sz="900">
                <a:solidFill>
                  <a:srgbClr val="202729"/>
                </a:solidFill>
                <a:latin typeface="Arial"/>
              </a:rPr>
              <a:t>Uses memory-mapped Parquet read buffers to stay under 4GB RAM.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00984" y="1371600"/>
            <a:ext cx="2651760" cy="3017520"/>
          </a:xfrm>
          <a:prstGeom prst="roundRect">
            <a:avLst/>
          </a:prstGeom>
          <a:solidFill>
            <a:srgbClr val="F0FCF4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7C41"/>
                </a:solidFill>
                <a:latin typeface="Arial"/>
              </a:rPr>
              <a:t>📊 2. Merit-First Scoring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Cosine Similarity: </a:t>
            </a:r>
            <a:r>
              <a:rPr sz="900">
                <a:solidFill>
                  <a:srgbClr val="202729"/>
                </a:solidFill>
                <a:latin typeface="Arial"/>
              </a:rPr>
              <a:t>Semantic alignment across 12 distinct Job Description facets.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Verified Assessments: </a:t>
            </a:r>
            <a:r>
              <a:rPr sz="900">
                <a:solidFill>
                  <a:srgbClr val="202729"/>
                </a:solidFill>
                <a:latin typeface="Arial"/>
              </a:rPr>
              <a:t>Platform-certified technical skill scores scale baseline scores by [0.50, 1.20].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Product Exp Multiplier: </a:t>
            </a:r>
            <a:r>
              <a:rPr sz="900">
                <a:solidFill>
                  <a:srgbClr val="202729"/>
                </a:solidFill>
                <a:latin typeface="Arial"/>
              </a:rPr>
              <a:t>Tenure-weighted boost for product companies (+15%) vs services drag (-20%).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Availability Multiplier: </a:t>
            </a:r>
            <a:r>
              <a:rPr sz="900">
                <a:solidFill>
                  <a:srgbClr val="202729"/>
                </a:solidFill>
                <a:latin typeface="Arial"/>
              </a:rPr>
              <a:t>Notice period days mapped to a continuous suitability curve.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27064" y="1371600"/>
            <a:ext cx="2651760" cy="301752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A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A80000"/>
                </a:solidFill>
                <a:latin typeface="Arial"/>
              </a:rPr>
              <a:t>🛡️ 3. Anti-Gaming Defenses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Honeypot Purging: </a:t>
            </a:r>
            <a:r>
              <a:rPr sz="900">
                <a:solidFill>
                  <a:srgbClr val="202729"/>
                </a:solidFill>
                <a:latin typeface="Arial"/>
              </a:rPr>
              <a:t>Automatically discards fake resumes showing extreme experience gaps.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Sentence Co-occurrence: </a:t>
            </a:r>
            <a:r>
              <a:rPr sz="900">
                <a:solidFill>
                  <a:srgbClr val="202729"/>
                </a:solidFill>
                <a:latin typeface="Arial"/>
              </a:rPr>
              <a:t>Requires search &amp; production keywords in same context window.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Metric Verification: </a:t>
            </a:r>
            <a:r>
              <a:rPr sz="900">
                <a:solidFill>
                  <a:srgbClr val="202729"/>
                </a:solidFill>
                <a:latin typeface="Arial"/>
              </a:rPr>
              <a:t>Verifies production claims against presence of digits or metrics.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Recruiter Action Gate: </a:t>
            </a:r>
            <a:r>
              <a:rPr sz="900">
                <a:solidFill>
                  <a:srgbClr val="202729"/>
                </a:solidFill>
                <a:latin typeface="Arial"/>
              </a:rPr>
              <a:t>Spam clickbaits with high views but 0 saves are demoted to Tier 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374904" y="1371600"/>
          <a:ext cx="4206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Facet Type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Extracted JD Requirements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729"/>
                          </a:solidFill>
                          <a:latin typeface="Arial"/>
                        </a:rPr>
                        <a:t>Core (70% Weight)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02729"/>
                          </a:solidFill>
                          <a:latin typeface="Arial"/>
                        </a:rPr>
                        <a:t>Retrieval Systems, Vector DB Search, Python ML Engineering, Ranking &amp; Evaluation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729"/>
                          </a:solidFill>
                          <a:latin typeface="Arial"/>
                        </a:rPr>
                        <a:t>Bonus (20% Weight)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02729"/>
                          </a:solidFill>
                          <a:latin typeface="Arial"/>
                        </a:rPr>
                        <a:t>LLM Fine-tuning, Learning-to-Rank, recruiting/marketplace domains, Distributed systems, Open-source ML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729"/>
                          </a:solidFill>
                          <a:latin typeface="Arial"/>
                        </a:rPr>
                        <a:t>Penalty (-30% Weight)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02729"/>
                          </a:solidFill>
                          <a:latin typeface="Arial"/>
                        </a:rPr>
                        <a:t>Tutorial-only framework lists, Computer Vision/Speech/Robotics focus, Closed-source-only tools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" name="Rounded Rectangle 72"/>
          <p:cNvSpPr/>
          <p:nvPr/>
        </p:nvSpPr>
        <p:spPr>
          <a:xfrm>
            <a:off x="4754880" y="1371600"/>
            <a:ext cx="4023360" cy="301752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02729"/>
                </a:solidFill>
                <a:latin typeface="Arial"/>
              </a:rPr>
              <a:t>🎯 Candidate Signal Evaluation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Verified Assessments: </a:t>
            </a:r>
            <a:r>
              <a:rPr sz="900">
                <a:solidFill>
                  <a:srgbClr val="202729"/>
                </a:solidFill>
                <a:latin typeface="Arial"/>
              </a:rPr>
              <a:t>Platform-certified technical skill scores (0-100) scale the baseline score. Core skills (RAG, Python) weight 1.0; ML frameworks weight 0.5.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Continuous Notice Curve: </a:t>
            </a:r>
            <a:r>
              <a:rPr sz="900">
                <a:solidFill>
                  <a:srgbClr val="202729"/>
                </a:solidFill>
                <a:latin typeface="Arial"/>
              </a:rPr>
              <a:t>Soft penalty scaling from 1.0 (&lt;=30d notice) down to 0.80 (&gt;=120d notice) to preserve engineering merit.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Product Exp Multiplier: </a:t>
            </a:r>
            <a:r>
              <a:rPr sz="900">
                <a:solidFill>
                  <a:srgbClr val="202729"/>
                </a:solidFill>
                <a:latin typeface="Arial"/>
              </a:rPr>
              <a:t>Product vs. consulting tenure ratio rewards SaaS/E-commerce/AI start-up experience up to +15% and drags services-only up to -20%.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Anti-Gaming Keywords: </a:t>
            </a:r>
            <a:r>
              <a:rPr sz="900">
                <a:solidFill>
                  <a:srgbClr val="202729"/>
                </a:solidFill>
                <a:latin typeface="Arial"/>
              </a:rPr>
              <a:t>Scans career histories using sentence-level syntax, requiring digits/metrics, and verifying against skill assessment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74904" y="1325880"/>
            <a:ext cx="8522208" cy="86868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050" b="1">
                <a:solidFill>
                  <a:srgbClr val="1A73E8"/>
                </a:solidFill>
                <a:latin typeface="Arial"/>
              </a:rPr>
              <a:t>Mathematical Scoring Engine Formulas
</a:t>
            </a:r>
          </a:p>
          <a:p>
            <a:pPr algn="ctr"/>
            <a:r>
              <a:rPr sz="900" b="1">
                <a:solidFill>
                  <a:srgbClr val="202729"/>
                </a:solidFill>
                <a:latin typeface="Courier New"/>
              </a:rPr>
              <a:t>base_fit = 0.7 * (core_score * skill_mult) + 0.2 * bonus_score - 0.3 * penalty_score + 0.05 * college_tier + 0.05 * cgpa_norm
final_score = base_fit * sqrt(availability_multiplier) * conversion_drag + location_boost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4904" y="2331720"/>
            <a:ext cx="2651760" cy="21031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A73E8"/>
                </a:solidFill>
                <a:latin typeface="Arial"/>
              </a:rPr>
              <a:t>📐 1. Vector Alignment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Geometric Mean: </a:t>
            </a:r>
            <a:r>
              <a:rPr sz="900">
                <a:solidFill>
                  <a:srgbClr val="202729"/>
                </a:solidFill>
                <a:latin typeface="Arial"/>
              </a:rPr>
              <a:t>Applied over 4 core facets to avoid single-competency rescue.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Clipped Core: </a:t>
            </a:r>
            <a:r>
              <a:rPr sz="900">
                <a:solidFill>
                  <a:srgbClr val="202729"/>
                </a:solidFill>
                <a:latin typeface="Arial"/>
              </a:rPr>
              <a:t>Forces a 1e-5 floor on core facet values to prevent zero-product drops.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300984" y="2331720"/>
            <a:ext cx="2651760" cy="2103120"/>
          </a:xfrm>
          <a:prstGeom prst="roundRect">
            <a:avLst/>
          </a:prstGeom>
          <a:solidFill>
            <a:srgbClr val="F0FCF4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7C41"/>
                </a:solidFill>
                <a:latin typeface="Arial"/>
              </a:rPr>
              <a:t>📈 2. Score Multipliers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Verified Skills: </a:t>
            </a:r>
            <a:r>
              <a:rPr sz="900">
                <a:solidFill>
                  <a:srgbClr val="202729"/>
                </a:solidFill>
                <a:latin typeface="Arial"/>
              </a:rPr>
              <a:t>Weights Core (1.0), Frameworks (0.5), and irrelevant (0.0). Scales base by [0.50, 1.20].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Product Company: </a:t>
            </a:r>
            <a:r>
              <a:rPr sz="900">
                <a:solidFill>
                  <a:srgbClr val="202729"/>
                </a:solidFill>
                <a:latin typeface="Arial"/>
              </a:rPr>
              <a:t>Tenure-weighted boost up to +15% and drag down to -20%.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27064" y="2331720"/>
            <a:ext cx="2651760" cy="210312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DC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C7300"/>
                </a:solidFill>
                <a:latin typeface="Arial"/>
              </a:rPr>
              <a:t>📍 3. Gating &amp; Location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Notice Curve: </a:t>
            </a:r>
            <a:r>
              <a:rPr sz="900">
                <a:solidFill>
                  <a:srgbClr val="202729"/>
                </a:solidFill>
                <a:latin typeface="Arial"/>
              </a:rPr>
              <a:t>Piecewise linear curve: 1.0 (&lt;=30d) down to 0.80 floor (&gt;=120d).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Location Boost: </a:t>
            </a:r>
            <a:r>
              <a:rPr sz="900">
                <a:solidFill>
                  <a:srgbClr val="202729"/>
                </a:solidFill>
                <a:latin typeface="Arial"/>
              </a:rPr>
              <a:t>Pune/Noida +0.015, Tier-1 +0.005. Post-merit additive boost preserves merit.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374904" y="1371600"/>
            <a:ext cx="4114800" cy="3017520"/>
          </a:xfrm>
          <a:prstGeom prst="roundRect">
            <a:avLst/>
          </a:prstGeom>
          <a:solidFill>
            <a:srgbClr val="F0FCF4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7C41"/>
                </a:solidFill>
                <a:latin typeface="Arial"/>
              </a:rPr>
              <a:t>📝 Factual Explainability Engine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Reasoning Generation: </a:t>
            </a:r>
            <a:r>
              <a:rPr sz="900">
                <a:solidFill>
                  <a:srgbClr val="202729"/>
                </a:solidFill>
                <a:latin typeface="Arial"/>
              </a:rPr>
              <a:t>Outputs plain-language recruiter summaries within 80-160 characters.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Strict Length Budget: </a:t>
            </a:r>
            <a:r>
              <a:rPr sz="900">
                <a:solidFill>
                  <a:srgbClr val="202729"/>
                </a:solidFill>
                <a:latin typeface="Arial"/>
              </a:rPr>
              <a:t>Forced compliance checks on the reasoning length to fit ATS limits.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Deterministic Rules: </a:t>
            </a:r>
            <a:r>
              <a:rPr sz="900">
                <a:solidFill>
                  <a:srgbClr val="202729"/>
                </a:solidFill>
                <a:latin typeface="Arial"/>
              </a:rPr>
              <a:t>Generates descriptions from real profile facts (years of experience, matching skill facet, location).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Zero Hallucination: </a:t>
            </a:r>
            <a:r>
              <a:rPr sz="900">
                <a:solidFill>
                  <a:srgbClr val="202729"/>
                </a:solidFill>
                <a:latin typeface="Arial"/>
              </a:rPr>
              <a:t>Eliminates generative LLM errors; utilizes structured data tables for all terminology.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Example Output: </a:t>
            </a:r>
            <a:r>
              <a:rPr sz="900">
                <a:solidFill>
                  <a:srgbClr val="202729"/>
                </a:solidFill>
                <a:latin typeface="Arial"/>
              </a:rPr>
              <a:t>"Excellent Search Engineer at Sarvam AI: 7.6y delivering embeddings retrieval, Gurgaon; clear top match for this search role."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63440" y="1371600"/>
            <a:ext cx="4206240" cy="301752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DC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C7300"/>
                </a:solidFill>
                <a:latin typeface="Arial"/>
              </a:rPr>
              <a:t>🔒 Security &amp; Data Integrity Defenses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Honeypot Purging: </a:t>
            </a:r>
            <a:r>
              <a:rPr sz="900">
                <a:solidFill>
                  <a:srgbClr val="202729"/>
                </a:solidFill>
                <a:latin typeface="Arial"/>
              </a:rPr>
              <a:t>Removes candidates with &gt;12-month experience gaps or false 'expert' skills duration (&lt;12 months).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Sentence Co-occurrence: </a:t>
            </a:r>
            <a:r>
              <a:rPr sz="900">
                <a:solidFill>
                  <a:srgbClr val="202729"/>
                </a:solidFill>
                <a:latin typeface="Arial"/>
              </a:rPr>
              <a:t>Requires search (e.g. RAG, vector search) &amp; production (e.g. deploy, scale) keywords to co-occur in the same sentence.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Metric Verification: </a:t>
            </a:r>
            <a:r>
              <a:rPr sz="900">
                <a:solidFill>
                  <a:srgbClr val="202729"/>
                </a:solidFill>
                <a:latin typeface="Arial"/>
              </a:rPr>
              <a:t>Validates engineering claims by requiring metrics (%, million, QPS) or numbers in the sentence.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Anti-Stuffing Guard: </a:t>
            </a:r>
            <a:r>
              <a:rPr sz="900">
                <a:solidFill>
                  <a:srgbClr val="202729"/>
                </a:solidFill>
                <a:latin typeface="Arial"/>
              </a:rPr>
              <a:t>Caps technology keywords count to 8 max. Disqualifies if assessment scores are low/failed.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374904" y="1371600"/>
            <a:ext cx="1920240" cy="105156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50" b="1">
                <a:solidFill>
                  <a:srgbClr val="202729"/>
                </a:solidFill>
                <a:latin typeface="Arial"/>
              </a:rPr>
              <a:t>1. Embeddings
</a:t>
            </a:r>
          </a:p>
          <a:p>
            <a:pPr algn="ctr"/>
            <a:r>
              <a:rPr sz="750">
                <a:solidFill>
                  <a:srgbClr val="202729"/>
                </a:solidFill>
                <a:latin typeface="Arial"/>
              </a:rPr>
              <a:t>MiniLM-L6-v2 encodes profiles &amp; 12 JD facets.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569464" y="1371600"/>
            <a:ext cx="1920240" cy="105156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50" b="1">
                <a:solidFill>
                  <a:srgbClr val="202729"/>
                </a:solidFill>
                <a:latin typeface="Arial"/>
              </a:rPr>
              <a:t>2. Pre-Filtering
</a:t>
            </a:r>
          </a:p>
          <a:p>
            <a:pPr algn="ctr"/>
            <a:r>
              <a:rPr sz="750">
                <a:solidFill>
                  <a:srgbClr val="202729"/>
                </a:solidFill>
                <a:latin typeface="Arial"/>
              </a:rPr>
              <a:t>DuckDB SQL filters location &amp; non-tech roles.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64024" y="1371600"/>
            <a:ext cx="1920240" cy="105156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50" b="1">
                <a:solidFill>
                  <a:srgbClr val="202729"/>
                </a:solidFill>
                <a:latin typeface="Arial"/>
              </a:rPr>
              <a:t>3. Honeypots
</a:t>
            </a:r>
          </a:p>
          <a:p>
            <a:pPr algn="ctr"/>
            <a:r>
              <a:rPr sz="750">
                <a:solidFill>
                  <a:srgbClr val="202729"/>
                </a:solidFill>
                <a:latin typeface="Arial"/>
              </a:rPr>
              <a:t>Purges fake resumes using experience anomalies.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958584" y="1371600"/>
            <a:ext cx="1920240" cy="105156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50" b="1">
                <a:solidFill>
                  <a:srgbClr val="202729"/>
                </a:solidFill>
                <a:latin typeface="Arial"/>
              </a:rPr>
              <a:t>4. Alignment
</a:t>
            </a:r>
          </a:p>
          <a:p>
            <a:pPr algn="ctr"/>
            <a:r>
              <a:rPr sz="750">
                <a:solidFill>
                  <a:srgbClr val="202729"/>
                </a:solidFill>
                <a:latin typeface="Arial"/>
              </a:rPr>
              <a:t>Vector alignment via Log-Clipped Geo Mean.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74904" y="2880360"/>
            <a:ext cx="1920240" cy="1051560"/>
          </a:xfrm>
          <a:prstGeom prst="roundRect">
            <a:avLst/>
          </a:prstGeom>
          <a:solidFill>
            <a:srgbClr val="F0FCF4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50" b="1">
                <a:solidFill>
                  <a:srgbClr val="202729"/>
                </a:solidFill>
                <a:latin typeface="Arial"/>
              </a:rPr>
              <a:t>5. Gating
</a:t>
            </a:r>
          </a:p>
          <a:p>
            <a:pPr algn="ctr"/>
            <a:r>
              <a:rPr sz="750">
                <a:solidFill>
                  <a:srgbClr val="202729"/>
                </a:solidFill>
                <a:latin typeface="Arial"/>
              </a:rPr>
              <a:t>Notice period &amp; responsiveness gates.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69464" y="2880360"/>
            <a:ext cx="1920240" cy="1051560"/>
          </a:xfrm>
          <a:prstGeom prst="roundRect">
            <a:avLst/>
          </a:prstGeom>
          <a:solidFill>
            <a:srgbClr val="F0FCF4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50" b="1">
                <a:solidFill>
                  <a:srgbClr val="202729"/>
                </a:solidFill>
                <a:latin typeface="Arial"/>
              </a:rPr>
              <a:t>6. Multipliers
</a:t>
            </a:r>
          </a:p>
          <a:p>
            <a:pPr algn="ctr"/>
            <a:r>
              <a:rPr sz="750">
                <a:solidFill>
                  <a:srgbClr val="202729"/>
                </a:solidFill>
                <a:latin typeface="Arial"/>
              </a:rPr>
              <a:t>Product company &amp; verified skill weights.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764024" y="2880360"/>
            <a:ext cx="1920240" cy="1051560"/>
          </a:xfrm>
          <a:prstGeom prst="roundRect">
            <a:avLst/>
          </a:prstGeom>
          <a:solidFill>
            <a:srgbClr val="F0FCF4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50" b="1">
                <a:solidFill>
                  <a:srgbClr val="202729"/>
                </a:solidFill>
                <a:latin typeface="Arial"/>
              </a:rPr>
              <a:t>7. Tiering
</a:t>
            </a:r>
          </a:p>
          <a:p>
            <a:pPr algn="ctr"/>
            <a:r>
              <a:rPr sz="750">
                <a:solidFill>
                  <a:srgbClr val="202729"/>
                </a:solidFill>
                <a:latin typeface="Arial"/>
              </a:rPr>
              <a:t>Lexicographical sorting across 4 capability tiers.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958584" y="2880360"/>
            <a:ext cx="1920240" cy="1051560"/>
          </a:xfrm>
          <a:prstGeom prst="roundRect">
            <a:avLst/>
          </a:prstGeom>
          <a:solidFill>
            <a:srgbClr val="FC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50" b="1">
                <a:solidFill>
                  <a:srgbClr val="202729"/>
                </a:solidFill>
                <a:latin typeface="Arial"/>
              </a:rPr>
              <a:t>8. Export
</a:t>
            </a:r>
          </a:p>
          <a:p>
            <a:pPr algn="ctr"/>
            <a:r>
              <a:rPr sz="750">
                <a:solidFill>
                  <a:srgbClr val="202729"/>
                </a:solidFill>
                <a:latin typeface="Arial"/>
              </a:rPr>
              <a:t>Factual reasoning syntheses &amp; CSV export.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2295144" y="1828800"/>
            <a:ext cx="274320" cy="137160"/>
          </a:xfrm>
          <a:prstGeom prst="rightArrow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ight Arrow 101"/>
          <p:cNvSpPr/>
          <p:nvPr/>
        </p:nvSpPr>
        <p:spPr>
          <a:xfrm>
            <a:off x="4489704" y="1828800"/>
            <a:ext cx="274320" cy="137160"/>
          </a:xfrm>
          <a:prstGeom prst="rightArrow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ight Arrow 102"/>
          <p:cNvSpPr/>
          <p:nvPr/>
        </p:nvSpPr>
        <p:spPr>
          <a:xfrm>
            <a:off x="6684264" y="1828800"/>
            <a:ext cx="274320" cy="137160"/>
          </a:xfrm>
          <a:prstGeom prst="rightArrow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Down Arrow 103"/>
          <p:cNvSpPr/>
          <p:nvPr/>
        </p:nvSpPr>
        <p:spPr>
          <a:xfrm>
            <a:off x="7850124" y="2423160"/>
            <a:ext cx="137160" cy="457200"/>
          </a:xfrm>
          <a:prstGeom prst="downArrow">
            <a:avLst/>
          </a:prstGeom>
          <a:solidFill>
            <a:srgbClr val="107C41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Left Arrow 104"/>
          <p:cNvSpPr/>
          <p:nvPr/>
        </p:nvSpPr>
        <p:spPr>
          <a:xfrm>
            <a:off x="6684264" y="3337560"/>
            <a:ext cx="274320" cy="137160"/>
          </a:xfrm>
          <a:prstGeom prst="leftArrow">
            <a:avLst/>
          </a:prstGeom>
          <a:solidFill>
            <a:srgbClr val="107C41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Left Arrow 105"/>
          <p:cNvSpPr/>
          <p:nvPr/>
        </p:nvSpPr>
        <p:spPr>
          <a:xfrm>
            <a:off x="4489704" y="3337560"/>
            <a:ext cx="274320" cy="137160"/>
          </a:xfrm>
          <a:prstGeom prst="leftArrow">
            <a:avLst/>
          </a:prstGeom>
          <a:solidFill>
            <a:srgbClr val="107C41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Left Arrow 106"/>
          <p:cNvSpPr/>
          <p:nvPr/>
        </p:nvSpPr>
        <p:spPr>
          <a:xfrm>
            <a:off x="2295144" y="3337560"/>
            <a:ext cx="274320" cy="137160"/>
          </a:xfrm>
          <a:prstGeom prst="leftArrow">
            <a:avLst/>
          </a:prstGeom>
          <a:solidFill>
            <a:srgbClr val="107C41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2000" b="1">
                <a:solidFill>
                  <a:srgbClr val="202729"/>
                </a:solidFill>
                <a:latin typeface="Arial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374904" y="1371600"/>
            <a:ext cx="3657600" cy="1645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Arial"/>
              </a:rPr>
              <a:t>🔍 STAGE 1: Pre-Filtering (rank.py)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202729"/>
                </a:solidFill>
                <a:latin typeface="Arial"/>
              </a:rPr>
              <a:t>• Input: </a:t>
            </a:r>
            <a:r>
              <a:rPr sz="850">
                <a:solidFill>
                  <a:srgbClr val="202729"/>
                </a:solidFill>
                <a:latin typeface="Arial"/>
              </a:rPr>
              <a:t>candidates.jsonl (100,000 candidate profiles)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202729"/>
                </a:solidFill>
                <a:latin typeface="Arial"/>
              </a:rPr>
              <a:t>• Engine: </a:t>
            </a:r>
            <a:r>
              <a:rPr sz="850">
                <a:solidFill>
                  <a:srgbClr val="202729"/>
                </a:solidFill>
                <a:latin typeface="Arial"/>
              </a:rPr>
              <a:t>DuckDB in-memory SQL reader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202729"/>
                </a:solidFill>
                <a:latin typeface="Arial"/>
              </a:rPr>
              <a:t>• Filters: </a:t>
            </a:r>
            <a:r>
              <a:rPr sz="850">
                <a:solidFill>
                  <a:srgbClr val="202729"/>
                </a:solidFill>
                <a:latin typeface="Arial"/>
              </a:rPr>
              <a:t>Relocation Funnel ∪ Role/Title Exclusions ∪ Consulting-only rules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202729"/>
                </a:solidFill>
                <a:latin typeface="Arial"/>
              </a:rPr>
              <a:t>• Output: </a:t>
            </a:r>
            <a:r>
              <a:rPr sz="850">
                <a:solidFill>
                  <a:srgbClr val="202729"/>
                </a:solidFill>
                <a:latin typeface="Arial"/>
              </a:rPr>
              <a:t>survivors.csv (reduces candidate dataset to ~25K)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4160520" y="2057400"/>
            <a:ext cx="640080" cy="274320"/>
          </a:xfrm>
          <a:prstGeom prst="rightArrow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4946904" y="1371600"/>
            <a:ext cx="3657600" cy="164592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A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A80000"/>
                </a:solidFill>
                <a:latin typeface="Arial"/>
              </a:rPr>
              <a:t>⚙️ STAGE 2: Multi-Signal Scoring (score_and_rank.py)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202729"/>
                </a:solidFill>
                <a:latin typeface="Arial"/>
              </a:rPr>
              <a:t>• Engine: </a:t>
            </a:r>
            <a:r>
              <a:rPr sz="850">
                <a:solidFill>
                  <a:srgbClr val="202729"/>
                </a:solidFill>
                <a:latin typeface="Arial"/>
              </a:rPr>
              <a:t>Vectorized NumPy similarity calculations &amp; Pandas math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202729"/>
                </a:solidFill>
                <a:latin typeface="Arial"/>
              </a:rPr>
              <a:t>• Signals: </a:t>
            </a:r>
            <a:r>
              <a:rPr sz="850">
                <a:solidFill>
                  <a:srgbClr val="202729"/>
                </a:solidFill>
                <a:latin typeface="Arial"/>
              </a:rPr>
              <a:t>Geometric core similarities, verified skill multipliers, notice curves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202729"/>
                </a:solidFill>
                <a:latin typeface="Arial"/>
              </a:rPr>
              <a:t>• Security: </a:t>
            </a:r>
            <a:r>
              <a:rPr sz="850">
                <a:solidFill>
                  <a:srgbClr val="202729"/>
                </a:solidFill>
                <a:latin typeface="Arial"/>
              </a:rPr>
              <a:t>Honeypot detection &amp; anti-gaming description checking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202729"/>
                </a:solidFill>
                <a:latin typeface="Arial"/>
              </a:rPr>
              <a:t>• Output: </a:t>
            </a:r>
            <a:r>
              <a:rPr sz="850">
                <a:solidFill>
                  <a:srgbClr val="202729"/>
                </a:solidFill>
                <a:latin typeface="Arial"/>
              </a:rPr>
              <a:t>submission.csv (Final ranked Top-100 candidates with reasoning)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4904" y="3154680"/>
            <a:ext cx="85222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729"/>
                </a:solidFill>
                <a:latin typeface="Arial"/>
              </a:rPr>
              <a:t>🧩 Modular Scoring Components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74904" y="3566160"/>
            <a:ext cx="1481328" cy="11887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1A73E8"/>
                </a:solidFill>
                <a:latin typeface="Arial"/>
              </a:rPr>
              <a:t>🎯 Semantic Match
</a:t>
            </a:r>
          </a:p>
          <a:p>
            <a:pPr algn="ctr">
              <a:spcBef>
                <a:spcPts val="300"/>
              </a:spcBef>
            </a:pPr>
            <a:r>
              <a:rPr sz="700">
                <a:solidFill>
                  <a:srgbClr val="202729"/>
                </a:solidFill>
                <a:latin typeface="Arial"/>
              </a:rPr>
              <a:t>12 cosine similarities across core/bonus/penalty JD facets.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112264" y="3566160"/>
            <a:ext cx="1481328" cy="118872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A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A80000"/>
                </a:solidFill>
                <a:latin typeface="Arial"/>
              </a:rPr>
              <a:t>✅ Verified Skills
</a:t>
            </a:r>
          </a:p>
          <a:p>
            <a:pPr algn="ctr">
              <a:spcBef>
                <a:spcPts val="300"/>
              </a:spcBef>
            </a:pPr>
            <a:r>
              <a:rPr sz="700">
                <a:solidFill>
                  <a:srgbClr val="202729"/>
                </a:solidFill>
                <a:latin typeface="Arial"/>
              </a:rPr>
              <a:t>31 skill assessments scale fit by [0.50, 1.20].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849624" y="3566160"/>
            <a:ext cx="1481328" cy="118872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DC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DC7300"/>
                </a:solidFill>
                <a:latin typeface="Arial"/>
              </a:rPr>
              <a:t>⏳ Notice Period
</a:t>
            </a:r>
          </a:p>
          <a:p>
            <a:pPr algn="ctr">
              <a:spcBef>
                <a:spcPts val="300"/>
              </a:spcBef>
            </a:pPr>
            <a:r>
              <a:rPr sz="700">
                <a:solidFill>
                  <a:srgbClr val="202729"/>
                </a:solidFill>
                <a:latin typeface="Arial"/>
              </a:rPr>
              <a:t>Piecewise linear curve: 1.0 (&lt;=30d) down to 0.80 floor.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586984" y="3566160"/>
            <a:ext cx="1481328" cy="1188720"/>
          </a:xfrm>
          <a:prstGeom prst="roundRect">
            <a:avLst/>
          </a:prstGeom>
          <a:solidFill>
            <a:srgbClr val="FC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7030A0"/>
                </a:solidFill>
                <a:latin typeface="Arial"/>
              </a:rPr>
              <a:t>🏢 Product Exp
</a:t>
            </a:r>
          </a:p>
          <a:p>
            <a:pPr algn="ctr">
              <a:spcBef>
                <a:spcPts val="300"/>
              </a:spcBef>
            </a:pPr>
            <a:r>
              <a:rPr sz="700">
                <a:solidFill>
                  <a:srgbClr val="202729"/>
                </a:solidFill>
                <a:latin typeface="Arial"/>
              </a:rPr>
              <a:t>Tenure-weighted SaaS/start-up ratio (+15% / -20%).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324344" y="3566160"/>
            <a:ext cx="1481328" cy="1188720"/>
          </a:xfrm>
          <a:prstGeom prst="roundRect">
            <a:avLst/>
          </a:prstGeom>
          <a:solidFill>
            <a:srgbClr val="F0FCFC"/>
          </a:solidFill>
          <a:ln w="19050">
            <a:solidFill>
              <a:srgbClr val="00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007878"/>
                </a:solidFill>
                <a:latin typeface="Arial"/>
              </a:rPr>
              <a:t>📍 Location Boost
</a:t>
            </a:r>
          </a:p>
          <a:p>
            <a:pPr algn="ctr">
              <a:spcBef>
                <a:spcPts val="300"/>
              </a:spcBef>
            </a:pPr>
            <a:r>
              <a:rPr sz="700">
                <a:solidFill>
                  <a:srgbClr val="202729"/>
                </a:solidFill>
                <a:latin typeface="Arial"/>
              </a:rPr>
              <a:t>Noida/Pune +0.015 boost preserves merit sort.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374904" y="1371600"/>
          <a:ext cx="5303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Candidate ID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Current Title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CAND_0041669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1.000000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Recommendation Systems Lead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CRED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CAND_0064326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0.723492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Search Engineer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Sarvam AI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CAND_0006418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0.716009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Machine Learning Engineer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Verloop.io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CAND_0054394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0.692698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Recommendation Systems Lead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PharmEasy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729"/>
                          </a:solidFill>
                          <a:latin typeface="Arial"/>
                        </a:rPr>
                        <a:t>CAND_0096142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0.685928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Applied ML Engineer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02729"/>
                          </a:solidFill>
                          <a:latin typeface="Arial"/>
                        </a:rPr>
                        <a:t>upGrad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7" name="Rounded Rectangle 106"/>
          <p:cNvSpPr/>
          <p:nvPr/>
        </p:nvSpPr>
        <p:spPr>
          <a:xfrm>
            <a:off x="5852160" y="1371600"/>
            <a:ext cx="3017520" cy="301752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02729"/>
                </a:solidFill>
                <a:latin typeface="Arial"/>
              </a:rPr>
              <a:t>⚡ Performance &amp; Quality Validation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Runtime Constraints: </a:t>
            </a:r>
            <a:r>
              <a:rPr sz="900">
                <a:solidFill>
                  <a:srgbClr val="202729"/>
                </a:solidFill>
                <a:latin typeface="Arial"/>
              </a:rPr>
              <a:t>Stage 1 pre-filtering runs in ~45 seconds. Stage 2 scoring runs in ~90 seconds. Total runtime ~135 seconds (constraint: &lt;5 min).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Memory Footprint: </a:t>
            </a:r>
            <a:r>
              <a:rPr sz="900">
                <a:solidFill>
                  <a:srgbClr val="202729"/>
                </a:solidFill>
                <a:latin typeface="Arial"/>
              </a:rPr>
              <a:t>Peak RAM usage stays under 4 GB on single core CPU (constraint: &lt;16 GB).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Score Monotonicity: </a:t>
            </a:r>
            <a:r>
              <a:rPr sz="900">
                <a:solidFill>
                  <a:srgbClr val="202729"/>
                </a:solidFill>
                <a:latin typeface="Arial"/>
              </a:rPr>
              <a:t>Strict verification of score decay checks. Exactly 100 rows outputted.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Top 100 Quality: </a:t>
            </a:r>
            <a:r>
              <a:rPr sz="900">
                <a:solidFill>
                  <a:srgbClr val="202729"/>
                </a:solidFill>
                <a:latin typeface="Arial"/>
              </a:rPr>
              <a:t>0% honeypot rate. Cleaned from keyword-stuffing and experience-inflation profiles.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1">
                <a:solidFill>
                  <a:srgbClr val="202729"/>
                </a:solidFill>
                <a:latin typeface="Arial"/>
              </a:rPr>
              <a:t>• Product Heavy: </a:t>
            </a:r>
            <a:r>
              <a:rPr sz="900">
                <a:solidFill>
                  <a:srgbClr val="202729"/>
                </a:solidFill>
                <a:latin typeface="Arial"/>
              </a:rPr>
              <a:t>All Top-5 matches verified as SaaS, FinTech, or AI-start-up engineers.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374904" y="1371600"/>
            <a:ext cx="2651760" cy="128016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A73E8"/>
                </a:solidFill>
                <a:latin typeface="Arial"/>
              </a:rPr>
              <a:t>🐍 Python 3.11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202729"/>
                </a:solidFill>
                <a:latin typeface="Arial"/>
              </a:rPr>
              <a:t>• Core pipeline scripting language with standard numerical and data library support.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300984" y="1371600"/>
            <a:ext cx="2651760" cy="128016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DC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DC7300"/>
                </a:solidFill>
                <a:latin typeface="Arial"/>
              </a:rPr>
              <a:t>🦆 </a:t>
            </a:r>
            <a:r>
              <a:rPr sz="1600" b="1" dirty="0" err="1">
                <a:solidFill>
                  <a:srgbClr val="DC7300"/>
                </a:solidFill>
                <a:latin typeface="Arial"/>
              </a:rPr>
              <a:t>DuckDB</a:t>
            </a:r>
            <a:endParaRPr sz="1600" b="1" dirty="0">
              <a:solidFill>
                <a:srgbClr val="DC7300"/>
              </a:solidFill>
              <a:latin typeface="Arial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202729"/>
                </a:solidFill>
                <a:latin typeface="Arial"/>
              </a:rPr>
              <a:t>• In-memory database engine for fast SQL streaming and parsing nested JSONL columns.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227064" y="1371600"/>
            <a:ext cx="2651760" cy="1280160"/>
          </a:xfrm>
          <a:prstGeom prst="roundRect">
            <a:avLst/>
          </a:prstGeom>
          <a:solidFill>
            <a:srgbClr val="F0FCF4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7C41"/>
                </a:solidFill>
                <a:latin typeface="Arial"/>
              </a:rPr>
              <a:t>🔢 NumPy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202729"/>
                </a:solidFill>
                <a:latin typeface="Arial"/>
              </a:rPr>
              <a:t>• Vectorized matrix operations for high-speed cosine similarity score calculations.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74904" y="2926080"/>
            <a:ext cx="2651760" cy="1280160"/>
          </a:xfrm>
          <a:prstGeom prst="roundRect">
            <a:avLst/>
          </a:prstGeom>
          <a:solidFill>
            <a:srgbClr val="FC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7030A0"/>
                </a:solidFill>
                <a:latin typeface="Arial"/>
              </a:rPr>
              <a:t>🤗 sentence-transformers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202729"/>
                </a:solidFill>
                <a:latin typeface="Arial"/>
              </a:rPr>
              <a:t>• Encodes profiles offline with all-MiniLM-L6-v2 model (80MB, fast CPU runtime).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300984" y="2926080"/>
            <a:ext cx="2651760" cy="128016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A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A80000"/>
                </a:solidFill>
                <a:latin typeface="Arial"/>
              </a:rPr>
              <a:t>🐼 Pandas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202729"/>
                </a:solidFill>
                <a:latin typeface="Arial"/>
              </a:rPr>
              <a:t>• DataFrame aggregation and structural candidate data merging operations.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27064" y="2926080"/>
            <a:ext cx="2651760" cy="1280160"/>
          </a:xfrm>
          <a:prstGeom prst="roundRect">
            <a:avLst/>
          </a:prstGeom>
          <a:solidFill>
            <a:srgbClr val="F0FCFC"/>
          </a:solidFill>
          <a:ln w="19050">
            <a:solidFill>
              <a:srgbClr val="00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07878"/>
                </a:solidFill>
                <a:latin typeface="Arial"/>
              </a:rPr>
              <a:t>📦 Apache Parquet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202729"/>
                </a:solidFill>
                <a:latin typeface="Arial"/>
              </a:rPr>
              <a:t>• Columnar parquet files provide rapid partial read access to candidate embeddings.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74904" y="1371600"/>
            <a:ext cx="4114800" cy="30175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A73E8"/>
                </a:solidFill>
                <a:latin typeface="Arial"/>
              </a:rPr>
              <a:t>💻 GitHub Repository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202729"/>
                </a:solidFill>
                <a:latin typeface="Arial"/>
              </a:rPr>
              <a:t>• GitHub Repository: </a:t>
            </a:r>
            <a:r>
              <a:rPr sz="1600" dirty="0">
                <a:solidFill>
                  <a:srgbClr val="202729"/>
                </a:solidFill>
                <a:latin typeface="Arial"/>
              </a:rPr>
              <a:t>Includes full project codebase and deployment instructions.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202729"/>
                </a:solidFill>
                <a:latin typeface="Arial"/>
              </a:rPr>
              <a:t>• Link: </a:t>
            </a:r>
            <a:r>
              <a:rPr sz="1600" dirty="0">
                <a:solidFill>
                  <a:srgbClr val="202729"/>
                </a:solidFill>
                <a:latin typeface="Arial"/>
              </a:rPr>
              <a:t>https://github.com/[your-github-repo]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663440" y="1371600"/>
            <a:ext cx="4206240" cy="301752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600"/>
              </a:spcAft>
            </a:pPr>
            <a:r>
              <a:rPr sz="1050" b="1" dirty="0">
                <a:solidFill>
                  <a:srgbClr val="202729"/>
                </a:solidFill>
                <a:latin typeface="Arial"/>
              </a:rPr>
              <a:t>📂 Submitted Package File Structure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dirty="0">
                <a:solidFill>
                  <a:srgbClr val="202729"/>
                </a:solidFill>
                <a:latin typeface="Arial"/>
              </a:rPr>
              <a:t>• rank.py: </a:t>
            </a:r>
            <a:r>
              <a:rPr sz="1050" dirty="0">
                <a:solidFill>
                  <a:srgbClr val="202729"/>
                </a:solidFill>
                <a:latin typeface="Arial"/>
              </a:rPr>
              <a:t>Stage 1 Pre-Filtering script executing role/location SQL logic.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dirty="0">
                <a:solidFill>
                  <a:srgbClr val="202729"/>
                </a:solidFill>
                <a:latin typeface="Arial"/>
              </a:rPr>
              <a:t>• score_and_rank.py: </a:t>
            </a:r>
            <a:r>
              <a:rPr sz="1050" dirty="0">
                <a:solidFill>
                  <a:srgbClr val="202729"/>
                </a:solidFill>
                <a:latin typeface="Arial"/>
              </a:rPr>
              <a:t>Stage 2 Scoring script executing vectorized mathematical scoring formulas.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dirty="0">
                <a:solidFill>
                  <a:srgbClr val="202729"/>
                </a:solidFill>
                <a:latin typeface="Arial"/>
              </a:rPr>
              <a:t>• submission.csv: </a:t>
            </a:r>
            <a:r>
              <a:rPr sz="1050" dirty="0">
                <a:solidFill>
                  <a:srgbClr val="202729"/>
                </a:solidFill>
                <a:latin typeface="Arial"/>
              </a:rPr>
              <a:t>The final output CSV containing the Top 100 ranked candidates.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dirty="0">
                <a:solidFill>
                  <a:srgbClr val="202729"/>
                </a:solidFill>
                <a:latin typeface="Arial"/>
              </a:rPr>
              <a:t>• precompute_embeddings.py: </a:t>
            </a:r>
            <a:r>
              <a:rPr sz="1050" dirty="0">
                <a:solidFill>
                  <a:srgbClr val="202729"/>
                </a:solidFill>
                <a:latin typeface="Arial"/>
              </a:rPr>
              <a:t>Offline script generating candidate profile text embeddings.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dirty="0">
                <a:solidFill>
                  <a:srgbClr val="202729"/>
                </a:solidFill>
                <a:latin typeface="Arial"/>
              </a:rPr>
              <a:t>• </a:t>
            </a:r>
            <a:r>
              <a:rPr sz="1050" b="1" dirty="0" err="1">
                <a:solidFill>
                  <a:srgbClr val="202729"/>
                </a:solidFill>
                <a:latin typeface="Arial"/>
              </a:rPr>
              <a:t>submission_metadata.yaml</a:t>
            </a:r>
            <a:r>
              <a:rPr sz="1050" b="1" dirty="0">
                <a:solidFill>
                  <a:srgbClr val="202729"/>
                </a:solidFill>
                <a:latin typeface="Arial"/>
              </a:rPr>
              <a:t>: </a:t>
            </a:r>
            <a:r>
              <a:rPr sz="1050" dirty="0">
                <a:solidFill>
                  <a:srgbClr val="202729"/>
                </a:solidFill>
                <a:latin typeface="Arial"/>
              </a:rPr>
              <a:t>YAML configuration file detailing model metadata and runtimes.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Microsoft Office PowerPoint</Application>
  <PresentationFormat>On-screen Show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Courier New</vt:lpstr>
      <vt:lpstr>Manrope SemiBold</vt:lpstr>
      <vt:lpstr>Arial</vt:lpstr>
      <vt:lpstr>Manrope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Sanchit Gupta</cp:lastModifiedBy>
  <cp:revision>1</cp:revision>
  <dcterms:modified xsi:type="dcterms:W3CDTF">2026-06-27T13:57:32Z</dcterms:modified>
</cp:coreProperties>
</file>